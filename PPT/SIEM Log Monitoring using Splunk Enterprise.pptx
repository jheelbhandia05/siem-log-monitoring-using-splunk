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9" r:id="rId7"/>
    <p:sldId id="268" r:id="rId8"/>
    <p:sldId id="267" r:id="rId9"/>
    <p:sldId id="266" r:id="rId10"/>
    <p:sldId id="265" r:id="rId11"/>
    <p:sldId id="270" r:id="rId12"/>
    <p:sldId id="263" r:id="rId13"/>
    <p:sldId id="264" r:id="rId14"/>
    <p:sldId id="262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93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505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840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06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589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703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867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781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865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216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4118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449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8468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421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651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642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A12FA-4B8E-45BD-AA47-AAEA07280EE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FF492A2-50B0-46AE-9B0C-656546441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101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72821-D73C-0F59-B208-F715296AD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2296" y="528485"/>
            <a:ext cx="8915399" cy="1791929"/>
          </a:xfrm>
        </p:spPr>
        <p:txBody>
          <a:bodyPr/>
          <a:lstStyle/>
          <a:p>
            <a:r>
              <a:rPr lang="en-IN" dirty="0"/>
              <a:t>SIEM Log Monitoring using Splunk Enterprise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5B579-29A5-293F-2D25-009071B28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4243" y="2565120"/>
            <a:ext cx="6230325" cy="1126283"/>
          </a:xfrm>
        </p:spPr>
        <p:txBody>
          <a:bodyPr/>
          <a:lstStyle/>
          <a:p>
            <a:r>
              <a:rPr lang="en-US" dirty="0"/>
              <a:t>System &amp; Security Log Analysis with Dashboards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22F26C-EBD6-BC10-36E2-FA200C9523D4}"/>
              </a:ext>
            </a:extLst>
          </p:cNvPr>
          <p:cNvSpPr txBox="1"/>
          <p:nvPr/>
        </p:nvSpPr>
        <p:spPr>
          <a:xfrm>
            <a:off x="8917859" y="5680587"/>
            <a:ext cx="3126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By: Jheel Bhandia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253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0B49-AD3B-F888-3D15-6E3D32985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819" y="641312"/>
            <a:ext cx="2244546" cy="693414"/>
          </a:xfrm>
        </p:spPr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841D69-EC18-171A-A697-B987F7A11B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37704" y="848152"/>
            <a:ext cx="5427408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SIEM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What is SIEM?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Why SIEM is Important?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Objective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&amp; Environment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Splunk Installation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Collection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journal)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Creation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&amp; Observations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552892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2BE91-BF87-88C5-95C1-99AF70CA8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169" y="574949"/>
            <a:ext cx="3873884" cy="713077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2C8C1-C858-11EE-7042-3CE813BD5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145" y="1651819"/>
            <a:ext cx="8915400" cy="377762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today’s digital world, systems generate a large number of logs related to user activity, system performance, and security events. Monitoring these logs manually is difficult and inefficient.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SIEM (Security Information and Event Management)</a:t>
            </a:r>
            <a:r>
              <a:rPr lang="en-US" dirty="0"/>
              <a:t> is a solution that helps organizations collect, analyze, and visualize logs in real time to detect security incidents and system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this project, </a:t>
            </a:r>
            <a:r>
              <a:rPr lang="en-US" b="1" dirty="0"/>
              <a:t>Splunk Enterprise</a:t>
            </a:r>
            <a:r>
              <a:rPr lang="en-US" dirty="0"/>
              <a:t> is used as a SIEM tool to monitor </a:t>
            </a:r>
            <a:r>
              <a:rPr lang="en-US" b="1" dirty="0" err="1"/>
              <a:t>systemd</a:t>
            </a:r>
            <a:r>
              <a:rPr lang="en-US" b="1" dirty="0"/>
              <a:t> journal logs and internal system logs</a:t>
            </a:r>
            <a:r>
              <a:rPr lang="en-US" dirty="0"/>
              <a:t> on a Kali Linux system. The project demonstrates real-time log monitoring, error detection, and dashboard visualization similar to a SOC (Security Operations Center) environment.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4960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E2F-3762-62C7-D670-81D14CFD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7" y="673271"/>
            <a:ext cx="3089160" cy="73274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What is SIEM?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4FEC2-EEEF-AE89-008D-DB946E523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8335" y="1622323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SIEM (Security Information and Event Management):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Centralized log collection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Correlates events from multiple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Detects security threats and system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real-time monitoring and alerts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by SOC teams for incident response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Examples:</a:t>
            </a:r>
            <a:br>
              <a:rPr lang="en-US" dirty="0"/>
            </a:br>
            <a:r>
              <a:rPr lang="en-US" dirty="0"/>
              <a:t>     Splunk, IBM </a:t>
            </a:r>
            <a:r>
              <a:rPr lang="en-US" dirty="0" err="1"/>
              <a:t>QRadar</a:t>
            </a:r>
            <a:r>
              <a:rPr lang="en-US" dirty="0"/>
              <a:t>, ArcSight, LogRhythm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143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8553E-6578-6FD0-E5E0-3E67D6D3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7" y="653607"/>
            <a:ext cx="4819638" cy="86056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Why SIEM is Important?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2B8029-FCC0-DE5D-EC56-D664958AA1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51718" y="1716831"/>
            <a:ext cx="859037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security monitoring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detection of attacks and failures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visibility of logs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incident response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meet compliance requirements</a:t>
            </a:r>
          </a:p>
        </p:txBody>
      </p:sp>
    </p:spTree>
    <p:extLst>
      <p:ext uri="{BB962C8B-B14F-4D97-AF65-F5344CB8AC3E}">
        <p14:creationId xmlns:p14="http://schemas.microsoft.com/office/powerpoint/2010/main" val="2493920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DF43-3D52-5BE4-4CDE-6E2A5823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498" y="594613"/>
            <a:ext cx="6845083" cy="860561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B7D10-F565-2AD1-EC0B-AB22B94C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670" y="1641987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Organizations face challenges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Huge volume of system logs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Difficulty in identifying errors manually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Lack of real-time visibility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Delayed response to system failures</a:t>
            </a:r>
          </a:p>
          <a:p>
            <a:pPr marL="0" indent="0">
              <a:buNone/>
            </a:pPr>
            <a:r>
              <a:rPr lang="en-US" b="1" dirty="0"/>
              <a:t>Solution:</a:t>
            </a:r>
            <a:br>
              <a:rPr lang="en-US" dirty="0"/>
            </a:br>
            <a:r>
              <a:rPr lang="en-US" dirty="0"/>
              <a:t>        Implement a SIEM solution using </a:t>
            </a:r>
            <a:r>
              <a:rPr lang="en-US" b="1" dirty="0"/>
              <a:t>Splunk Enterprise</a:t>
            </a:r>
            <a:r>
              <a:rPr lang="en-US" dirty="0"/>
              <a:t> to monitor system logs and visualize errors effectively.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03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CBCF7-29EC-5DA4-32F9-0B5056BF8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43" y="663439"/>
            <a:ext cx="8911687" cy="850728"/>
          </a:xfrm>
        </p:spPr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F52265-8CCF-6255-3BD1-C1B525075D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6443" y="1856375"/>
            <a:ext cx="812698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system logs using Splunk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journal logs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errors and abnormal activity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data using dashboards</a:t>
            </a:r>
          </a:p>
        </p:txBody>
      </p:sp>
    </p:spTree>
    <p:extLst>
      <p:ext uri="{BB962C8B-B14F-4D97-AF65-F5344CB8AC3E}">
        <p14:creationId xmlns:p14="http://schemas.microsoft.com/office/powerpoint/2010/main" val="3670622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88A21-B9B0-EBAB-EB14-BB2CD7282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53607"/>
            <a:ext cx="4131379" cy="8015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Tools &amp; Environment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F2056D-FB13-4D0B-2BA5-DD77E4CCC6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19584" y="1601205"/>
            <a:ext cx="642655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OS: Kali Linux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SIEM Tool: Splunk Enterprise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Logs: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journal,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splunk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internal logs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Interface: Splunk Web (Search &amp; Reporting)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2F2FB6-23C6-0AE3-E654-5CF16FB9E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859" y="1759974"/>
            <a:ext cx="6137141" cy="287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2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2A4B1-63E8-CDAC-D915-3D4C0ED63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43" y="683104"/>
            <a:ext cx="3702473" cy="614755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Splunk Installation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20F318-4717-E926-CE94-B4C7D5A904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0892" y="1608788"/>
            <a:ext cx="534588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Splunk installed on Kali Linux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Splunk service started successfully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interface accessible on port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8000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56D9F1-9340-787A-5ACE-1AFF05A9F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277" y="683104"/>
            <a:ext cx="6493723" cy="2477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08FBC7-B3B9-E868-1126-9B5343135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277" y="3518434"/>
            <a:ext cx="6493723" cy="311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68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FDF0-4903-502D-1D02-BDE923513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732265"/>
            <a:ext cx="8911687" cy="683580"/>
          </a:xfrm>
        </p:spPr>
        <p:txBody>
          <a:bodyPr>
            <a:normAutofit fontScale="90000"/>
          </a:bodyPr>
          <a:lstStyle/>
          <a:p>
            <a:pPr defTabSz="914400" eaLnBrk="0" fontAlgn="base" hangingPunct="0"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Log Collection (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systemd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/ journal)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01694AA-7DEC-B991-DFCD-A81FF3E964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8311" y="1558264"/>
            <a:ext cx="57278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journal input enabled in Splunk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Logs collected from Linux system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Events ingested via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splunkd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journal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indexed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_internal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monitoring of system-level activity and errors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0D28E8-EA09-F0EE-0878-4D2EBEC5E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793" y="1415845"/>
            <a:ext cx="5026207" cy="24136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A25CA5-6F71-4103-57C8-5422C4ADD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793" y="4235342"/>
            <a:ext cx="5026206" cy="241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95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AE4FF-8F12-0952-BAF0-97CBAEEDE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43" y="684006"/>
            <a:ext cx="8911687" cy="705935"/>
          </a:xfrm>
        </p:spPr>
        <p:txBody>
          <a:bodyPr/>
          <a:lstStyle/>
          <a:p>
            <a:r>
              <a:rPr lang="en-IN" dirty="0"/>
              <a:t>Log Search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363D3-9543-B232-EE68-3F853E8EA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024" y="2152262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Sample Search Used: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index=_internal </a:t>
            </a:r>
            <a:r>
              <a:rPr lang="en-IN" dirty="0" err="1"/>
              <a:t>sourcetype</a:t>
            </a:r>
            <a:r>
              <a:rPr lang="en-IN" dirty="0"/>
              <a:t>=</a:t>
            </a:r>
            <a:r>
              <a:rPr lang="en-IN" dirty="0" err="1"/>
              <a:t>splunkd</a:t>
            </a:r>
            <a:r>
              <a:rPr lang="en-IN" dirty="0"/>
              <a:t> journal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Displays system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Helps identify failures and warnings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071244-51E3-55C0-3AB4-F60555132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600" y="2318761"/>
            <a:ext cx="5197400" cy="249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26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EA5F-0B6E-D67A-4D26-C73BC9AD9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197" y="683103"/>
            <a:ext cx="3906198" cy="752406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Dashboard Creation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AC28A-58DF-8CCC-0638-06ECD23C5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219" y="1743419"/>
            <a:ext cx="8764839" cy="38642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SIEM dashboard is created to visualize: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system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Errors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systemd</a:t>
            </a:r>
            <a:r>
              <a:rPr lang="en-US" dirty="0"/>
              <a:t> journal activity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helps in quick monitoring and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980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0DE8-DD93-E013-25C3-ECF21887F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745409"/>
            <a:ext cx="8911687" cy="682175"/>
          </a:xfrm>
        </p:spPr>
        <p:txBody>
          <a:bodyPr/>
          <a:lstStyle/>
          <a:p>
            <a:r>
              <a:rPr lang="en-US" dirty="0"/>
              <a:t>Dashboard Panel 1 – Total System Errors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FDEA0-36E9-B7AC-E9F8-A55C896B4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67" y="1723053"/>
            <a:ext cx="8915400" cy="377762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Purpose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Displays the total number of system errors detected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Helps quickly assess overall system health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Useful for identifying abnormal error spikes</a:t>
            </a:r>
          </a:p>
          <a:p>
            <a:pPr marL="0" indent="0">
              <a:buNone/>
            </a:pPr>
            <a:r>
              <a:rPr lang="en-IN" b="1" dirty="0"/>
              <a:t>Data Source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_internal index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splunkd</a:t>
            </a:r>
            <a:r>
              <a:rPr lang="en-IN" dirty="0"/>
              <a:t> and journal logs</a:t>
            </a:r>
          </a:p>
          <a:p>
            <a:pPr marL="0" indent="0">
              <a:buNone/>
            </a:pPr>
            <a:r>
              <a:rPr lang="en-IN" b="1" dirty="0"/>
              <a:t>Search Query Used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index=_internal </a:t>
            </a:r>
            <a:r>
              <a:rPr lang="en-IN" dirty="0" err="1"/>
              <a:t>sourcetype</a:t>
            </a:r>
            <a:r>
              <a:rPr lang="en-IN" dirty="0"/>
              <a:t>=</a:t>
            </a:r>
            <a:r>
              <a:rPr lang="en-IN" dirty="0" err="1"/>
              <a:t>splunkd</a:t>
            </a:r>
            <a:r>
              <a:rPr lang="en-IN" dirty="0"/>
              <a:t> journal error</a:t>
            </a:r>
          </a:p>
          <a:p>
            <a:pPr marL="0" indent="0">
              <a:buNone/>
            </a:pPr>
            <a:r>
              <a:rPr lang="en-IN" b="1" dirty="0"/>
              <a:t>Visualization Type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Single Value Panel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1B78A-2689-100D-8807-B419B5890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065" y="2155946"/>
            <a:ext cx="5302087" cy="294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67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C565C-7938-9C5E-563C-3927AB25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77457"/>
            <a:ext cx="8911687" cy="1280890"/>
          </a:xfrm>
        </p:spPr>
        <p:txBody>
          <a:bodyPr/>
          <a:lstStyle/>
          <a:p>
            <a:r>
              <a:rPr lang="en-US" dirty="0"/>
              <a:t>Dashboard Panel 2 – Errors Per Hour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3CD99-3CDF-3C82-960A-DBCB40D15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734" y="1443134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Purpose:</a:t>
            </a:r>
            <a:br>
              <a:rPr lang="en-IN" dirty="0"/>
            </a:br>
            <a:r>
              <a:rPr lang="en-IN" dirty="0"/>
              <a:t>     Shows error trend over time.</a:t>
            </a:r>
          </a:p>
          <a:p>
            <a:pPr marL="0" indent="0">
              <a:buNone/>
            </a:pPr>
            <a:r>
              <a:rPr lang="en-IN" b="1" dirty="0"/>
              <a:t>Search Used: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index=_internal </a:t>
            </a:r>
            <a:r>
              <a:rPr lang="en-IN" dirty="0" err="1"/>
              <a:t>sourcetype</a:t>
            </a:r>
            <a:r>
              <a:rPr lang="en-IN" dirty="0"/>
              <a:t>=</a:t>
            </a:r>
            <a:r>
              <a:rPr lang="en-IN" dirty="0" err="1"/>
              <a:t>splunkd</a:t>
            </a:r>
            <a:r>
              <a:rPr lang="en-IN" dirty="0"/>
              <a:t> journal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| </a:t>
            </a:r>
            <a:r>
              <a:rPr lang="en-IN" dirty="0" err="1"/>
              <a:t>timechart</a:t>
            </a:r>
            <a:r>
              <a:rPr lang="en-IN" dirty="0"/>
              <a:t> span=1h count</a:t>
            </a:r>
          </a:p>
          <a:p>
            <a:pPr marL="0" indent="0">
              <a:buNone/>
            </a:pPr>
            <a:r>
              <a:rPr lang="en-IN" b="1" dirty="0"/>
              <a:t>Visualization:</a:t>
            </a:r>
            <a:br>
              <a:rPr lang="en-IN" dirty="0"/>
            </a:br>
            <a:r>
              <a:rPr lang="en-IN" dirty="0"/>
              <a:t>   Line Chart / Column Chart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504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EC77B-324C-3D60-5A6F-129B35C68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205" y="614779"/>
            <a:ext cx="10359011" cy="1280890"/>
          </a:xfrm>
        </p:spPr>
        <p:txBody>
          <a:bodyPr/>
          <a:lstStyle/>
          <a:p>
            <a:r>
              <a:rPr lang="en-US" dirty="0"/>
              <a:t>Dashboard Panel 3 – </a:t>
            </a:r>
            <a:r>
              <a:rPr lang="en-US" dirty="0" err="1"/>
              <a:t>systemd</a:t>
            </a:r>
            <a:r>
              <a:rPr lang="en-US" dirty="0"/>
              <a:t> Journal Activity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A7D1F-4C18-C6D3-5A4D-53A6E2C78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693" y="1639077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Shows activity of different system components.</a:t>
            </a:r>
          </a:p>
          <a:p>
            <a:pPr marL="0" indent="0">
              <a:buNone/>
            </a:pPr>
            <a:r>
              <a:rPr lang="en-US" b="1" dirty="0"/>
              <a:t>Search Used:</a:t>
            </a:r>
            <a:endParaRPr lang="en-US" dirty="0"/>
          </a:p>
          <a:p>
            <a:r>
              <a:rPr lang="en-US" dirty="0"/>
              <a:t>index=_internal </a:t>
            </a:r>
            <a:r>
              <a:rPr lang="en-US" dirty="0" err="1"/>
              <a:t>sourcetype</a:t>
            </a:r>
            <a:r>
              <a:rPr lang="en-US" dirty="0"/>
              <a:t>=</a:t>
            </a:r>
            <a:r>
              <a:rPr lang="en-US" dirty="0" err="1"/>
              <a:t>splunkd</a:t>
            </a:r>
            <a:r>
              <a:rPr lang="en-US" dirty="0"/>
              <a:t> journal</a:t>
            </a:r>
          </a:p>
          <a:p>
            <a:r>
              <a:rPr lang="en-US" dirty="0"/>
              <a:t>| stats count by component</a:t>
            </a:r>
          </a:p>
          <a:p>
            <a:pPr marL="0" indent="0">
              <a:buNone/>
            </a:pPr>
            <a:r>
              <a:rPr lang="en-US" b="1" dirty="0"/>
              <a:t>Visualization:</a:t>
            </a:r>
            <a:br>
              <a:rPr lang="en-US" dirty="0"/>
            </a:br>
            <a:r>
              <a:rPr lang="en-US" dirty="0"/>
              <a:t>Bar Chart / Table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154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57541-F1F9-A98E-1EDB-ED4099A6E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77457"/>
            <a:ext cx="8911687" cy="878119"/>
          </a:xfrm>
        </p:spPr>
        <p:txBody>
          <a:bodyPr/>
          <a:lstStyle/>
          <a:p>
            <a:r>
              <a:rPr lang="en-IN" dirty="0"/>
              <a:t>Final Dashboard 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A5CAA1-DB31-DE08-2667-4186D2CF13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7160" y="1619872"/>
            <a:ext cx="422743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panels displayed on one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 enabled</a:t>
            </a:r>
          </a:p>
        </p:txBody>
      </p:sp>
    </p:spTree>
    <p:extLst>
      <p:ext uri="{BB962C8B-B14F-4D97-AF65-F5344CB8AC3E}">
        <p14:creationId xmlns:p14="http://schemas.microsoft.com/office/powerpoint/2010/main" val="3488401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C306-2E84-5925-90F0-721A28861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40135"/>
            <a:ext cx="8911687" cy="831465"/>
          </a:xfrm>
        </p:spPr>
        <p:txBody>
          <a:bodyPr/>
          <a:lstStyle/>
          <a:p>
            <a:r>
              <a:rPr lang="en-IN" dirty="0"/>
              <a:t>Results &amp; Observations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911A95-BDAE-26F8-69FE-B13B2B9020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40155" y="1709794"/>
            <a:ext cx="647747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 log ingestion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 detected and analyzed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provides clear visibility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 achieved</a:t>
            </a:r>
          </a:p>
        </p:txBody>
      </p:sp>
    </p:spTree>
    <p:extLst>
      <p:ext uri="{BB962C8B-B14F-4D97-AF65-F5344CB8AC3E}">
        <p14:creationId xmlns:p14="http://schemas.microsoft.com/office/powerpoint/2010/main" val="1603111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DCF3C-56C9-DEE6-B9F6-29EE1968F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52102"/>
            <a:ext cx="8911687" cy="859457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30B80-6052-51DA-A985-CDC109B03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2590" y="1764124"/>
            <a:ext cx="8915400" cy="377762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project demonstrates the practical implementation of a </a:t>
            </a:r>
            <a:r>
              <a:rPr lang="en-US" b="1" dirty="0"/>
              <a:t>SIEM solution using Splunk Enterprise</a:t>
            </a:r>
            <a:r>
              <a:rPr lang="en-US" dirty="0"/>
              <a:t>. It shows how system logs can be collected, analyzed, and visualized to detect system issues and security-related events.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project provides hands-on experience with SIEM tools and reflects real-world SOC operations.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1301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2EBBC-B612-57B2-CEF8-56F1C7DD9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96118"/>
            <a:ext cx="8911687" cy="728829"/>
          </a:xfrm>
        </p:spPr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B2DFA2-3450-2533-6B14-036C976C31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16839" y="1609922"/>
            <a:ext cx="638618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alerting mechanism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SSH login attempts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multiple log 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 attack scenarios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SOC-style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3098517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BB91-8B91-FFFD-E8D0-7DEC935A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295" y="2148110"/>
            <a:ext cx="4529409" cy="1280890"/>
          </a:xfrm>
        </p:spPr>
        <p:txBody>
          <a:bodyPr>
            <a:normAutofit/>
          </a:bodyPr>
          <a:lstStyle/>
          <a:p>
            <a:r>
              <a:rPr lang="en-US" sz="4800" dirty="0"/>
              <a:t>THANK YOU !!!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73372915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1611</TotalTime>
  <Words>692</Words>
  <Application>Microsoft Office PowerPoint</Application>
  <PresentationFormat>Widescreen</PresentationFormat>
  <Paragraphs>148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Wisp</vt:lpstr>
      <vt:lpstr>SIEM Log Monitoring using Splunk Enterprise</vt:lpstr>
      <vt:lpstr>Agenda</vt:lpstr>
      <vt:lpstr>INTRODUCTION</vt:lpstr>
      <vt:lpstr>What is SIEM? </vt:lpstr>
      <vt:lpstr>Why SIEM is Important? </vt:lpstr>
      <vt:lpstr>Problem Statement</vt:lpstr>
      <vt:lpstr>Project Objective</vt:lpstr>
      <vt:lpstr>Tools &amp; Environment </vt:lpstr>
      <vt:lpstr>Splunk Installation </vt:lpstr>
      <vt:lpstr>Log Collection (systemd / journal)  </vt:lpstr>
      <vt:lpstr>Log Search &amp; Analysis</vt:lpstr>
      <vt:lpstr>Dashboard Creation </vt:lpstr>
      <vt:lpstr>Dashboard Panel 1 – Total System Errors</vt:lpstr>
      <vt:lpstr>Dashboard Panel 2 – Errors Per Hour</vt:lpstr>
      <vt:lpstr>Dashboard Panel 3 – systemd Journal Activity</vt:lpstr>
      <vt:lpstr>Final Dashboard View</vt:lpstr>
      <vt:lpstr>Results &amp; Observations</vt:lpstr>
      <vt:lpstr>Conclusion</vt:lpstr>
      <vt:lpstr>Future Scope</vt:lpstr>
      <vt:lpstr>THANK YOU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Jheel Bhandia</dc:creator>
  <cp:lastModifiedBy>Jheel Bhandia</cp:lastModifiedBy>
  <cp:revision>1</cp:revision>
  <dcterms:created xsi:type="dcterms:W3CDTF">2026-01-06T06:42:44Z</dcterms:created>
  <dcterms:modified xsi:type="dcterms:W3CDTF">2026-01-07T09:34:11Z</dcterms:modified>
</cp:coreProperties>
</file>